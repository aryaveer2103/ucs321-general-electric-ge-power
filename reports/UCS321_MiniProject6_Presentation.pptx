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</a:rPr>
              <a:t>Electric Motor Winding Temperature Estimation and Thermal Monitoring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BFDBFE"/>
                </a:solidFill>
              </a:rPr>
              <a:t>A history-aware virtual sensor for a permanent-magnet synchronous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</a:rPr>
              <a:t>UCS321 · MST Mini Project #6 · General Electric (GE) Power Systems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DE68A"/>
                </a:solidFill>
              </a:rPr>
              <a:t>[Your name] · [Roll number] · [Group / Instructor]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FDBFE"/>
                </a:solidFill>
              </a:rPr>
              <a:t>Dataset: Paderborn University LEA test bench (public, CC BY-SA 4.0) - not GE hardware.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Why estimate a temperature we could in principle measure?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Winding insulation ageing and demagnetisation limit motor torque; the controller must know how hot the stator winding is.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Direct sensing: accurate, but extra cost, wiring, failure points and hard to retrofit.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Virtual sensing: reuse signals the drive already has (speed, torque, d-q currents/voltages, coolant, ambient) and learn the mapping from data.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Research question: can ML estimate winding temperature on unseen operating profiles without the winding temperature as input?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Also: use the estimate as a reference - a persistent residual can flag something unusual (experimental, not a protection function).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54480"/>
            <a:ext cx="4297680" cy="3291840"/>
          </a:xfrm>
          <a:prstGeom prst="round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E293B"/>
                </a:solidFill>
              </a:rPr>
              <a:t>Direct sensor
+ measured truth
- cost / failure point
Virtual sensor
+ no hardware
+ redundancy / plausibility check
- statistical, limited to training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029200"/>
            <a:ext cx="4297680" cy="1097280"/>
          </a:xfrm>
          <a:prstGeom prst="roundRect">
            <a:avLst/>
          </a:prstGeom>
          <a:solidFill>
            <a:srgbClr val="FEF3C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E293B"/>
                </a:solidFill>
              </a:rPr>
              <a:t>GE Power Systems is the case-study framing of the assignment. The data comes from a university test bench, not GE equipment.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Dataset and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Paderborn University LEA PMSM test bench - Kaggle 'electric-motor-temperature'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4B5563"/>
                </a:solidFill>
              </a:rPr>
              <a:t>• measures_v2.csv · 300 MB · 1,330,816 rows · 69 operating profiles · ≈ 185 h at an assumed 2 Hz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B5563"/>
                </a:solidFill>
              </a:rPr>
              <a:t>• Target: stator_winding. Inputs: ambient, coolant, motor_speed, torque, i_d, i_q, u_d, u_q.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B5563"/>
                </a:solidFill>
              </a:rPr>
              <a:t>• Never used as inputs: stator_tooth, stator_yoke, pm (internal temperatures), profile_id.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B5563"/>
                </a:solidFill>
              </a:rPr>
              <a:t>• No missing values, no duplicate rows; each profile is one contiguous block (row order = time).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B5563"/>
                </a:solidFill>
              </a:rPr>
              <a:t>• 22 of 69 profiles start with a warm motor - not all recordings are cold starts.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4B5563"/>
                </a:solidFill>
              </a:rPr>
              <a:t>• SHA-256: 78f3d150f0f2ad9c… · licence CC BY-SA 4.0 (attribution in README).</a:t>
            </a:r>
          </a:p>
        </p:txBody>
      </p:sp>
      <p:pic>
        <p:nvPicPr>
          <p:cNvPr id="7" name="Picture 6" descr="profile_du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303520" cy="1795225"/>
          </a:xfrm>
          <a:prstGeom prst="rect">
            <a:avLst/>
          </a:prstGeom>
        </p:spPr>
      </p:pic>
      <p:pic>
        <p:nvPicPr>
          <p:cNvPr id="8" name="Picture 7" descr="start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931920"/>
            <a:ext cx="3474720" cy="2177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What the measurements look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4</a:t>
            </a:r>
          </a:p>
        </p:txBody>
      </p:sp>
      <p:pic>
        <p:nvPicPr>
          <p:cNvPr id="6" name="Picture 5" descr="example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035040" cy="3825660"/>
          </a:xfrm>
          <a:prstGeom prst="rect">
            <a:avLst/>
          </a:prstGeom>
        </p:spPr>
      </p:pic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4448341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Winding temperature spans ≈ 19-141 °C; instantaneous |i|² explains only part of it.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Internal temperatures (tooth, yoke, magnet) are near-collinear with the target → excluded as inputs.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Speed-torque coverage differs between profiles → split by whole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Pipeline and leakage-safe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5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3545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18872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Split by whole profile: 49 train / 10 val / 10 test profiles (68 / 17 / 15 % of rows).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Stratified by peak winding temperature; manifest saved.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Scaler and statistics fitted on training rows only (Pipeline).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Features are causal and reset at every profile start.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Test profiles opened only after the model selection is frozen.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Unit tests fail if any of this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754880"/>
            <a:ext cx="7315200" cy="1371600"/>
          </a:xfrm>
          <a:prstGeom prst="round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E293B"/>
                </a:solidFill>
              </a:rPr>
              <a:t>Why not a random row split? Samples are 0.5 s apart and nearly identical to their neighbours, so a random split would put a near-copy of every test row into training and reward memorisation. Whole operating profiles are held out instead.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Feature engineering and thermal inertia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Physics →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005840"/>
          </a:xfrm>
          <a:prstGeom prst="roundRect">
            <a:avLst/>
          </a:prstGeom>
          <a:solidFill>
            <a:srgbClr val="F3F4F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293B"/>
                </a:solidFill>
              </a:rPr>
              <a:t>C·dT/dt = P − (T − T_coolant)/R   ⇒   T[k+1] = (1−α)·T[k] + α·(T_coolant + R·P[k]),  α = Δt/τ
The temperature is an exponentially weighted average (EWMA) of the heating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4B5563"/>
                </a:solidFill>
              </a:rPr>
              <a:t>• Track A (instantaneous): 8 raw signals + 9 derived: i², |i|, |u|, |speed|, |torque|, P_mech (exact), P_elec / P_loss (proxies), T_amb − T_cool.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4B5563"/>
                </a:solidFill>
              </a:rPr>
              <a:t>• Track B (history-aware): + causal EWMAs (τ = 30 s, 2 min, 10 min, 30 min, 2 h) and rolling means (60 s, 5 min) of i², |speed|, |torque| and coolant temperature → 45 features.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4B5563"/>
                </a:solidFill>
              </a:rPr>
              <a:t>• Windows defined in seconds, computed on the full 2 Hz series, per profile, no future samples.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4B5563"/>
                </a:solidFill>
              </a:rPr>
              <a:t>• Cold start is explicit: rolling means are NaN until the window is full (LightGBM handles NaN); no arbitrary fill values.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4B5563"/>
                </a:solidFill>
              </a:rPr>
              <a:t>• Offline (vectorised) and streaming implementations are unit-tested to agree.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Held-out test profiles · MAE / RMSE in 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0607039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640080"/>
                <a:gridCol w="822960"/>
                <a:gridCol w="822960"/>
                <a:gridCol w="822960"/>
                <a:gridCol w="914400"/>
                <a:gridCol w="1920240"/>
                <a:gridCol w="91440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p95 AE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Worst-profile MAE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Fit [s]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A/mean_baseline/basic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29.65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-0.013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54.67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42.91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A/linear/physical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15.17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20.08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0.535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39.25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24.55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A/ridge/enhanced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15.43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A/random_forest/enhanced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13.20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17.32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0.654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34.87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17.63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57.4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A/hist_gb/enhanced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14.76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16.02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A/lightgbm/enhanced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10.32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14.11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0.771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29.37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14.27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3.9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A/lightgbm[t2]/enhanced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9.53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27.31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13.19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B/lightgbm/enhanced+ewma_long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3.45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5.64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0.963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10.78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6.03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8.4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B/hist_gb/enhanced+ewma_long_rolling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7.78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16.6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B/lightgbm[t2]/enhanced+ewma_long_rolling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2.35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3.37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0.987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6.43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3.16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31.7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Instantaneous models plateau far above history-aware ones - algorithm choice matters much less than representing thermal memory.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Winners were chosen on validation profiles only; the test table is a single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Results on unseen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Track B history-aware vs Track A instantaneous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8</a:t>
            </a:r>
          </a:p>
        </p:txBody>
      </p:sp>
      <p:pic>
        <p:nvPicPr>
          <p:cNvPr id="6" name="Picture 5" descr="scatter_track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3125426" cy="3017520"/>
          </a:xfrm>
          <a:prstGeom prst="rect">
            <a:avLst/>
          </a:prstGeom>
        </p:spPr>
      </p:pic>
      <p:pic>
        <p:nvPicPr>
          <p:cNvPr id="7" name="Picture 6" descr="scatter_track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43000"/>
            <a:ext cx="3125426" cy="3017520"/>
          </a:xfrm>
          <a:prstGeom prst="rect">
            <a:avLst/>
          </a:prstGeom>
        </p:spPr>
      </p:pic>
      <p:pic>
        <p:nvPicPr>
          <p:cNvPr id="8" name="Picture 7" descr="per_profile_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188720"/>
            <a:ext cx="4206240" cy="184152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343400"/>
          <a:ext cx="56692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737360"/>
                <a:gridCol w="17373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Track 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Track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MAE [°C]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9.53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RMSE [°C]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13.34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3.37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median AE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6.94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1.73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p95 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27.31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6.43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worst profile MAE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13.19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3.16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4805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Test: 10 whole profiles, 198,499 samples.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R² alone hides °C-level errors - read MAE, p95 and the worst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Does history help? What does the model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Ablation (validation) and permutation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9</a:t>
            </a:r>
          </a:p>
        </p:txBody>
      </p:sp>
      <p:pic>
        <p:nvPicPr>
          <p:cNvPr id="6" name="Picture 5" descr="histor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852160" cy="2821210"/>
          </a:xfrm>
          <a:prstGeom prst="rect">
            <a:avLst/>
          </a:prstGeom>
        </p:spPr>
      </p:pic>
      <p:pic>
        <p:nvPicPr>
          <p:cNvPr id="7" name="Picture 6" descr="importance_groups_track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2644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Same train/validation profiles for every row of the ablation; mean ± std over seeds.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Importance by feature family (correlated features are shuffled together); importance is predictive, not causal.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On the validation profiles, every history set beats the instantaneous model (9.42 °C); the best set ('ewma_long_rolling') reaches 2.32 °C (± 0.08 across seeds). Differences between history sets are smaller than the gap to the instantaneous model, and the seed spread shows differences below ≈ 0.3 °C should not be over-interpreted.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Thermal residual monitoring (experimental)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residual = measured − estimated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10</a:t>
            </a:r>
          </a:p>
        </p:txBody>
      </p:sp>
      <p:pic>
        <p:nvPicPr>
          <p:cNvPr id="6" name="Picture 5" descr="monitoring_typica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760720" cy="38310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37160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Band ±10.8 °C: 99.5th percentile of the 60 s-smoothed |residual| on validation profiles; alarm needs ≥ 120 s persistence.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On healthy test profiles: 0.13 % of time in alarm, 2 of 10 profiles raise ≥ 1 alarm (= false alarms / model error).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Synthetic +offset sensitivity: +2 °C → 2 newly alarming of 10 profiles (median first alarm 16 min); +5 °C → 3 newly alarming of 10 profiles (median first alarm 17 min); +10 °C → 7 newly alarming of 10 profiles (median first alarm 26 min); +15 °C → 8 newly alarming of 10 profiles (median first alarm 4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11247120" cy="1188720"/>
          </a:xfrm>
          <a:prstGeom prst="roundRect">
            <a:avLst/>
          </a:prstGeom>
          <a:solidFill>
            <a:srgbClr val="FEF3C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E293B"/>
                </a:solidFill>
              </a:rPr>
              <a:t>Not fault detection: no labelled faults exist, so no detection accuracy is claimed. A persistent residual may mean a sensor issue, cooling change, unseen operating point, model error or a real defect. Not a certified protection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Application and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B5563"/>
                </a:solidFill>
              </a:rPr>
              <a:t>Streamlit dashboard · 60 s-ahead forecasting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11</a:t>
            </a:r>
          </a:p>
        </p:txBody>
      </p:sp>
      <p:pic>
        <p:nvPicPr>
          <p:cNvPr id="6" name="Picture 5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675120" cy="4717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28016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Sections: overview, dataset exploration, instantaneous prediction, profile replay, model evaluation, thermal monitoring.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Loads the saved models + metadata; never fakes predictions; warns about out-of-range inputs.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Replay is historical data, clearly labelled.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60 s-ahead forecasting (separate experiment): persistence MAE 2.66 °C, sensor-independent forecast 3.24 °C, sensor-assisted forecast 2.27 °C.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4B5563"/>
                </a:solidFill>
              </a:rPr>
              <a:t>• Run: uv run streamlit run app/streamlit_app.py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</a:rPr>
              <a:t>Conclusions, limitations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4B5563"/>
                </a:solidFill>
              </a:rPr>
              <a:t>UCS321 · MST Mini Project #6 · PMSM winding-temperature virtual sensor ·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On 10 unseen test profiles the history-aware virtual sensor reaches MAE 2.35 °C (RMSE 3.37 °C, R² 0.987, 95 % of errors below 6.4 °C) versus 9.53 °C for the best instantaneous model - 4.0× lower error.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Limitations: one test bench / motor; cold-start and warm-restart effects; coolant behaviour is operator-controlled on the bench; trees do not extrapolate; no fault labels.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Future work: sequence models for comparison, warm-start initialisation, per-motor calibration, uncertainty estimates, validation on real fault data.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4B5563"/>
                </a:solidFill>
              </a:rPr>
              <a:t>• References: Kirchgässner, Wallscheid, Böcker - Paderborn LEA PMSM temperature data &amp; deep-pmsm; Ke et al., LightGBM (NIPS 2017); scikit-learn model-validation and common-pitfalls guides.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